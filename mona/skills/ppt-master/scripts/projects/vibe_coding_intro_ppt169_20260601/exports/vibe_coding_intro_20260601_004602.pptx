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50000">
                <a:srgbClr val="0F2847"/>
              </a:gs>
              <a:gs pos="100000">
                <a:srgbClr val="1A5276"/>
              </a:gs>
            </a:gsLst>
            <a:lin ang="2700000" scaled="1"/>
          </a:gra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</p:grpSp>
      <p:sp>
        <p:nvSpPr>
          <p:cNvPr id="36" name="Ellipse 36"/>
          <p:cNvSpPr/>
          <p:nvPr/>
        </p:nvSpPr>
        <p:spPr>
          <a:xfrm>
            <a:off x="8572500" y="-476250"/>
            <a:ext cx="3810000" cy="3810000"/>
          </a:xfrm>
          <a:prstGeom prst="ellipse">
            <a:avLst/>
          </a:prstGeom>
          <a:noFill/>
          <a:ln w="9525">
            <a:solidFill>
              <a:srgbClr val="00D4FF">
                <a:alpha val="15000"/>
              </a:srgbClr>
            </a:solidFill>
          </a:ln>
        </p:spPr>
      </p:sp>
      <p:sp>
        <p:nvSpPr>
          <p:cNvPr id="37" name="Ellipse 37"/>
          <p:cNvSpPr/>
          <p:nvPr/>
        </p:nvSpPr>
        <p:spPr>
          <a:xfrm>
            <a:off x="9048750" y="0"/>
            <a:ext cx="2857500" cy="2857500"/>
          </a:xfrm>
          <a:prstGeom prst="ellipse">
            <a:avLst/>
          </a:prstGeom>
          <a:noFill/>
          <a:ln w="9525">
            <a:solidFill>
              <a:srgbClr val="00D4FF">
                <a:alpha val="10000"/>
              </a:srgbClr>
            </a:solidFill>
          </a:ln>
        </p:spPr>
      </p:sp>
      <p:sp>
        <p:nvSpPr>
          <p:cNvPr id="38" name="Ellipse 38"/>
          <p:cNvSpPr/>
          <p:nvPr/>
        </p:nvSpPr>
        <p:spPr>
          <a:xfrm>
            <a:off x="9525000" y="476250"/>
            <a:ext cx="1905000" cy="1905000"/>
          </a:xfrm>
          <a:prstGeom prst="ellipse">
            <a:avLst/>
          </a:prstGeom>
          <a:noFill/>
          <a:ln w="9525">
            <a:solidFill>
              <a:srgbClr val="00D4FF">
                <a:alpha val="8000"/>
              </a:srgbClr>
            </a:solidFill>
          </a:ln>
        </p:spPr>
      </p:sp>
      <p:sp>
        <p:nvSpPr>
          <p:cNvPr id="39" name="Ellipse 39"/>
          <p:cNvSpPr/>
          <p:nvPr/>
        </p:nvSpPr>
        <p:spPr>
          <a:xfrm>
            <a:off x="571500" y="4572000"/>
            <a:ext cx="2286000" cy="2286000"/>
          </a:xfrm>
          <a:prstGeom prst="ellipse">
            <a:avLst/>
          </a:prstGeom>
          <a:noFill/>
          <a:ln w="9525">
            <a:solidFill>
              <a:srgbClr val="7B2FFF">
                <a:alpha val="12000"/>
              </a:srgbClr>
            </a:solidFill>
          </a:ln>
        </p:spPr>
      </p:sp>
      <p:sp>
        <p:nvSpPr>
          <p:cNvPr id="40" name="Ellipse 40"/>
          <p:cNvSpPr/>
          <p:nvPr/>
        </p:nvSpPr>
        <p:spPr>
          <a:xfrm>
            <a:off x="952500" y="4953000"/>
            <a:ext cx="1524000" cy="1524000"/>
          </a:xfrm>
          <a:prstGeom prst="ellipse">
            <a:avLst/>
          </a:prstGeom>
          <a:noFill/>
          <a:ln w="9525">
            <a:solidFill>
              <a:srgbClr val="7B2FFF">
                <a:alpha val="8000"/>
              </a:srgbClr>
            </a:solidFill>
          </a:ln>
        </p:spPr>
      </p:sp>
      <p:sp>
        <p:nvSpPr>
          <p:cNvPr id="41" name="Line 41"/>
          <p:cNvSpPr/>
          <p:nvPr/>
        </p:nvSpPr>
        <p:spPr>
          <a:xfrm>
            <a:off x="0" y="1905000"/>
            <a:ext cx="2857500" cy="1428750"/>
          </a:xfrm>
          <a:custGeom>
            <a:avLst/>
            <a:gdLst/>
            <a:ahLst/>
            <a:cxnLst/>
            <a:rect l="l" t="t" r="r" b="b"/>
            <a:pathLst>
              <a:path w="2857500" h="1428750">
                <a:moveTo>
                  <a:pt x="0" y="0"/>
                </a:moveTo>
                <a:lnTo>
                  <a:pt x="2857500" y="1428750"/>
                </a:lnTo>
              </a:path>
            </a:pathLst>
          </a:custGeom>
          <a:noFill/>
          <a:ln w="9525">
            <a:solidFill>
              <a:srgbClr val="00D4FF">
                <a:alpha val="12000"/>
              </a:srgbClr>
            </a:solidFill>
          </a:ln>
        </p:spPr>
      </p:sp>
      <p:sp>
        <p:nvSpPr>
          <p:cNvPr id="42" name="Line 42"/>
          <p:cNvSpPr/>
          <p:nvPr/>
        </p:nvSpPr>
        <p:spPr>
          <a:xfrm>
            <a:off x="0" y="2381250"/>
            <a:ext cx="2381250" cy="1428750"/>
          </a:xfrm>
          <a:custGeom>
            <a:avLst/>
            <a:gdLst/>
            <a:ahLst/>
            <a:cxnLst/>
            <a:rect l="l" t="t" r="r" b="b"/>
            <a:pathLst>
              <a:path w="2381250" h="1428750">
                <a:moveTo>
                  <a:pt x="0" y="0"/>
                </a:moveTo>
                <a:lnTo>
                  <a:pt x="2381250" y="1428750"/>
                </a:lnTo>
              </a:path>
            </a:pathLst>
          </a:custGeom>
          <a:noFill/>
          <a:ln w="9525">
            <a:solidFill>
              <a:srgbClr val="00D4FF">
                <a:alpha val="12000"/>
              </a:srgbClr>
            </a:solidFill>
          </a:ln>
        </p:spPr>
      </p:sp>
      <p:sp>
        <p:nvSpPr>
          <p:cNvPr id="43" name="Line 43"/>
          <p:cNvSpPr/>
          <p:nvPr/>
        </p:nvSpPr>
        <p:spPr>
          <a:xfrm>
            <a:off x="9334500" y="4953000"/>
            <a:ext cx="2857500" cy="1905000"/>
          </a:xfrm>
          <a:custGeom>
            <a:avLst/>
            <a:gdLst/>
            <a:ahLst/>
            <a:cxnLst/>
            <a:rect l="l" t="t" r="r" b="b"/>
            <a:pathLst>
              <a:path w="2857500" h="1905000">
                <a:moveTo>
                  <a:pt x="0" y="190500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7B2FFF">
                <a:alpha val="12000"/>
              </a:srgbClr>
            </a:solidFill>
          </a:ln>
        </p:spPr>
      </p:sp>
      <p:sp>
        <p:nvSpPr>
          <p:cNvPr id="44" name="Line 44"/>
          <p:cNvSpPr/>
          <p:nvPr/>
        </p:nvSpPr>
        <p:spPr>
          <a:xfrm>
            <a:off x="9810750" y="5429250"/>
            <a:ext cx="2381250" cy="1428750"/>
          </a:xfrm>
          <a:custGeom>
            <a:avLst/>
            <a:gdLst/>
            <a:ahLst/>
            <a:cxnLst/>
            <a:rect l="l" t="t" r="r" b="b"/>
            <a:pathLst>
              <a:path w="2381250" h="1428750">
                <a:moveTo>
                  <a:pt x="0" y="1428750"/>
                </a:moveTo>
                <a:lnTo>
                  <a:pt x="2381250" y="0"/>
                </a:lnTo>
              </a:path>
            </a:pathLst>
          </a:custGeom>
          <a:noFill/>
          <a:ln w="9525">
            <a:solidFill>
              <a:srgbClr val="7B2FFF">
                <a:alpha val="12000"/>
              </a:srgbClr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484265" y="2023110"/>
            <a:ext cx="3223470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effectLst>
                  <a:glow rad="28575">
                    <a:srgbClr val="000000">
                      <a:alpha val="30000"/>
                    </a:srgbClr>
                  </a:glow>
                </a:effectLst>
                <a:latin typeface="Segoe UI"/>
                <a:ea typeface="Microsoft YaHei"/>
                <a:cs typeface="Segoe UI"/>
              </a:rPr>
              <a:t>Vibe Coding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788170" y="2821305"/>
            <a:ext cx="26156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AI 驱动的开发新范式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706654" y="3314700"/>
            <a:ext cx="47786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The Future of AI-Assisted Software Development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143500" y="3714750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B2FFF"/>
              </a:gs>
            </a:gsLst>
            <a:lin ang="0" scaled="1"/>
          </a:gra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2286000" y="4191000"/>
            <a:ext cx="7620000" cy="952500"/>
          </a:xfrm>
          <a:prstGeom prst="roundRect">
            <a:avLst>
              <a:gd name="adj" fmla="val 120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2286000" y="4191000"/>
            <a:ext cx="38100" cy="9525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2554605" y="4426268"/>
            <a:ext cx="40397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i="1" dirty="0">
                <a:solidFill>
                  <a:srgbClr val="E5E7EB"/>
                </a:solidFill>
                <a:latin typeface="Segoe UI"/>
                <a:ea typeface="Microsoft YaHei"/>
                <a:cs typeface="Segoe UI"/>
              </a:rPr>
              <a:t>"用自然语言描述想法，AI 即时生成可运行的代码"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558415" y="47920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—— Vibe Coding 的核心理念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4000500" y="5429250"/>
            <a:ext cx="3810000" cy="280988"/>
            <a:chOff x="4000500" y="5429250"/>
            <a:chExt cx="3810000" cy="280988"/>
          </a:xfrm>
        </p:grpSpPr>
        <p:sp>
          <p:nvSpPr>
            <p:cNvPr id="53" name="Rectangle 53"/>
            <p:cNvSpPr/>
            <p:nvPr/>
          </p:nvSpPr>
          <p:spPr>
            <a:xfrm>
              <a:off x="4000500" y="54292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147637" y="549687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AI 编程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953000" y="54292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7B2FFF">
                <a:alpha val="15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040630" y="5496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388FF"/>
                  </a:solidFill>
                  <a:latin typeface="Segoe UI"/>
                  <a:ea typeface="Microsoft YaHei"/>
                  <a:cs typeface="Segoe UI"/>
                </a:rPr>
                <a:t>自然语言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905500" y="54292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63139" y="549687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零门槛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858000" y="542925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7B2FFF">
                <a:alpha val="15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40880" y="5496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388FF"/>
                  </a:solidFill>
                  <a:latin typeface="Segoe UI"/>
                  <a:ea typeface="Microsoft YaHei"/>
                  <a:cs typeface="Segoe UI"/>
                </a:rPr>
                <a:t>即时构建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488150" y="6411278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0F2847"/>
              </a:gs>
            </a:gsLst>
            <a:lin ang="2700000" scaled="1"/>
          </a:gra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36" name="Rectangle 36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FFF"/>
              </a:gs>
            </a:gsLst>
            <a:lin ang="0" scaled="1"/>
          </a:gra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41020" y="455295"/>
            <a:ext cx="7330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目录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6260" y="8705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CONTENTS</a:t>
            </a:r>
          </a:p>
        </p:txBody>
      </p:sp>
      <p:sp>
        <p:nvSpPr>
          <p:cNvPr id="39" name="Line 39"/>
          <p:cNvSpPr/>
          <p:nvPr/>
        </p:nvSpPr>
        <p:spPr>
          <a:xfrm>
            <a:off x="571500" y="119062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1E3A5F"/>
            </a:solidFill>
          </a:ln>
        </p:spPr>
      </p:sp>
      <p:grpSp>
        <p:nvGrpSpPr>
          <p:cNvPr id="45" name="Group 45"/>
          <p:cNvGrpSpPr/>
          <p:nvPr/>
        </p:nvGrpSpPr>
        <p:grpSpPr>
          <a:xfrm>
            <a:off x="952500" y="1714500"/>
            <a:ext cx="4953000" cy="857250"/>
            <a:chOff x="952500" y="1714500"/>
            <a:chExt cx="4953000" cy="857250"/>
          </a:xfrm>
        </p:grpSpPr>
        <p:sp>
          <p:nvSpPr>
            <p:cNvPr id="40" name="Rectangle 40"/>
            <p:cNvSpPr/>
            <p:nvPr/>
          </p:nvSpPr>
          <p:spPr>
            <a:xfrm>
              <a:off x="952500" y="1714500"/>
              <a:ext cx="4953000" cy="85725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4000"/>
              </a:srgb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52500" y="1714500"/>
              <a:ext cx="38100" cy="857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293495" y="1755458"/>
              <a:ext cx="45490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0D4F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84045" y="1898332"/>
              <a:ext cx="22597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什么是 Vibe Coding？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91665" y="2220278"/>
              <a:ext cx="17418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Definition &amp; Core Concept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286500" y="1714500"/>
            <a:ext cx="4953000" cy="857250"/>
            <a:chOff x="6286500" y="1714500"/>
            <a:chExt cx="4953000" cy="857250"/>
          </a:xfrm>
        </p:grpSpPr>
        <p:sp>
          <p:nvSpPr>
            <p:cNvPr id="46" name="Rectangle 46"/>
            <p:cNvSpPr/>
            <p:nvPr/>
          </p:nvSpPr>
          <p:spPr>
            <a:xfrm>
              <a:off x="6286500" y="1714500"/>
              <a:ext cx="4953000" cy="85725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4000"/>
              </a:srgbClr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86500" y="1714500"/>
              <a:ext cx="38100" cy="857250"/>
            </a:xfrm>
            <a:prstGeom prst="roundRect">
              <a:avLst>
                <a:gd name="adj" fmla="val 50000"/>
              </a:avLst>
            </a:prstGeom>
            <a:solidFill>
              <a:srgbClr val="7B2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27495" y="1755458"/>
              <a:ext cx="56517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7B2FF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18045" y="18983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核心工具与平台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25665" y="2220278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Key Tools &amp; Platforms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52500" y="2857500"/>
            <a:ext cx="4953000" cy="857250"/>
            <a:chOff x="952500" y="2857500"/>
            <a:chExt cx="4953000" cy="857250"/>
          </a:xfrm>
        </p:grpSpPr>
        <p:sp>
          <p:nvSpPr>
            <p:cNvPr id="52" name="Rectangle 52"/>
            <p:cNvSpPr/>
            <p:nvPr/>
          </p:nvSpPr>
          <p:spPr>
            <a:xfrm>
              <a:off x="952500" y="2857500"/>
              <a:ext cx="4953000" cy="85725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4000"/>
              </a:srgbClr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52500" y="2857500"/>
              <a:ext cx="38100" cy="857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293495" y="2898458"/>
              <a:ext cx="56517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0D4F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884045" y="30413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工作流程与实践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891665" y="3363278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Workflow &amp; Practice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86500" y="2857500"/>
            <a:ext cx="4953000" cy="857250"/>
            <a:chOff x="6286500" y="2857500"/>
            <a:chExt cx="4953000" cy="857250"/>
          </a:xfrm>
        </p:grpSpPr>
        <p:sp>
          <p:nvSpPr>
            <p:cNvPr id="58" name="Rectangle 58"/>
            <p:cNvSpPr/>
            <p:nvPr/>
          </p:nvSpPr>
          <p:spPr>
            <a:xfrm>
              <a:off x="6286500" y="2857500"/>
              <a:ext cx="4953000" cy="85725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4000"/>
              </a:srgbClr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86500" y="2857500"/>
              <a:ext cx="38100" cy="857250"/>
            </a:xfrm>
            <a:prstGeom prst="roundRect">
              <a:avLst>
                <a:gd name="adj" fmla="val 50000"/>
              </a:avLst>
            </a:prstGeom>
            <a:solidFill>
              <a:srgbClr val="7B2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27495" y="2898458"/>
              <a:ext cx="56517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7B2FF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18045" y="304133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优势、挑战与未来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25665" y="3363278"/>
              <a:ext cx="2049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Benefits, Challenges &amp; Future</a:t>
              </a:r>
            </a:p>
          </p:txBody>
        </p:sp>
      </p:grpSp>
      <p:sp>
        <p:nvSpPr>
          <p:cNvPr id="64" name="Ellipse 64"/>
          <p:cNvSpPr/>
          <p:nvPr/>
        </p:nvSpPr>
        <p:spPr>
          <a:xfrm>
            <a:off x="9715500" y="4953000"/>
            <a:ext cx="1524000" cy="1524000"/>
          </a:xfrm>
          <a:prstGeom prst="ellipse">
            <a:avLst/>
          </a:prstGeom>
          <a:noFill/>
          <a:ln w="9525">
            <a:solidFill>
              <a:srgbClr val="00D4FF">
                <a:alpha val="8000"/>
              </a:srgbClr>
            </a:solidFill>
          </a:ln>
        </p:spPr>
      </p:sp>
      <p:sp>
        <p:nvSpPr>
          <p:cNvPr id="65" name="Ellipse 65"/>
          <p:cNvSpPr/>
          <p:nvPr/>
        </p:nvSpPr>
        <p:spPr>
          <a:xfrm>
            <a:off x="10001250" y="5238750"/>
            <a:ext cx="952500" cy="952500"/>
          </a:xfrm>
          <a:prstGeom prst="ellipse">
            <a:avLst/>
          </a:prstGeom>
          <a:noFill/>
          <a:ln w="9525">
            <a:solidFill>
              <a:srgbClr val="7B2FFF">
                <a:alpha val="8000"/>
              </a:srgbClr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11453146" y="641127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0F2847"/>
              </a:gs>
            </a:gsLst>
            <a:lin ang="2700000" scaled="1"/>
          </a:gra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36" name="Rectangle 36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FFF"/>
              </a:gs>
            </a:gsLst>
            <a:lin ang="0" scaled="1"/>
          </a:gra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446133" y="1695450"/>
            <a:ext cx="1299734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00D4FF">
                    <a:alphaMod val="8000"/>
                  </a:srgbClr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30778" y="2849880"/>
            <a:ext cx="493044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什么是 Vibe Coding？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07912" y="3489008"/>
            <a:ext cx="21761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What is Vibe Coding?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143500" y="3905250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B2FFF"/>
              </a:gs>
            </a:gsLst>
            <a:lin ang="0" scaled="1"/>
          </a:gra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131707" y="4219575"/>
            <a:ext cx="39285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用自然语言编程，让 AI 成为你的结对程序员</a:t>
            </a:r>
          </a:p>
        </p:txBody>
      </p:sp>
      <p:sp>
        <p:nvSpPr>
          <p:cNvPr id="42" name="Ellipse 42"/>
          <p:cNvSpPr/>
          <p:nvPr/>
        </p:nvSpPr>
        <p:spPr>
          <a:xfrm>
            <a:off x="9334500" y="285750"/>
            <a:ext cx="2286000" cy="2286000"/>
          </a:xfrm>
          <a:prstGeom prst="ellipse">
            <a:avLst/>
          </a:prstGeom>
          <a:noFill/>
          <a:ln w="9525">
            <a:solidFill>
              <a:srgbClr val="00D4FF">
                <a:alpha val="10000"/>
              </a:srgbClr>
            </a:solidFill>
          </a:ln>
        </p:spPr>
      </p:sp>
      <p:sp>
        <p:nvSpPr>
          <p:cNvPr id="43" name="Ellipse 43"/>
          <p:cNvSpPr/>
          <p:nvPr/>
        </p:nvSpPr>
        <p:spPr>
          <a:xfrm>
            <a:off x="952500" y="4953000"/>
            <a:ext cx="1524000" cy="1524000"/>
          </a:xfrm>
          <a:prstGeom prst="ellipse">
            <a:avLst/>
          </a:prstGeom>
          <a:noFill/>
          <a:ln w="9525">
            <a:solidFill>
              <a:srgbClr val="7B2FFF">
                <a:alpha val="10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1453146" y="641127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0F2847"/>
              </a:gs>
            </a:gsLst>
            <a:lin ang="2700000" scaled="1"/>
          </a:gra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2000"/>
                </a:srgbClr>
              </a:solidFill>
            </a:ln>
          </p:spPr>
        </p:sp>
      </p:grpSp>
      <p:sp>
        <p:nvSpPr>
          <p:cNvPr id="36" name="Rectangle 36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FFF"/>
              </a:gs>
            </a:gsLst>
            <a:lin ang="0" scaled="1"/>
          </a:gra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44830" y="440055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核心工具与平台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7212" y="812006"/>
            <a:ext cx="160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Key Tools &amp; Platforms</a:t>
            </a:r>
          </a:p>
        </p:txBody>
      </p:sp>
      <p:sp>
        <p:nvSpPr>
          <p:cNvPr id="39" name="Line 39"/>
          <p:cNvSpPr/>
          <p:nvPr/>
        </p:nvSpPr>
        <p:spPr>
          <a:xfrm>
            <a:off x="571500" y="10953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1E3A5F"/>
            </a:solidFill>
          </a:ln>
        </p:spPr>
      </p:sp>
      <p:grpSp>
        <p:nvGrpSpPr>
          <p:cNvPr id="73" name="Group 73"/>
          <p:cNvGrpSpPr/>
          <p:nvPr/>
        </p:nvGrpSpPr>
        <p:grpSpPr>
          <a:xfrm>
            <a:off x="571500" y="1285875"/>
            <a:ext cx="3429000" cy="4953000"/>
            <a:chOff x="571500" y="1285875"/>
            <a:chExt cx="3429000" cy="4953000"/>
          </a:xfrm>
        </p:grpSpPr>
        <p:sp>
          <p:nvSpPr>
            <p:cNvPr id="40" name="Rectangle 40"/>
            <p:cNvSpPr/>
            <p:nvPr/>
          </p:nvSpPr>
          <p:spPr>
            <a:xfrm>
              <a:off x="571500" y="1285875"/>
              <a:ext cx="3429000" cy="4953000"/>
            </a:xfrm>
            <a:prstGeom prst="roundRect">
              <a:avLst>
                <a:gd name="adj" fmla="val 3333"/>
              </a:avLst>
            </a:prstGeom>
            <a:gradFill>
              <a:gsLst>
                <a:gs pos="0">
                  <a:srgbClr val="00D4FF">
                    <a:alpha val="12000"/>
                  </a:srgbClr>
                </a:gs>
                <a:gs pos="100000">
                  <a:srgbClr val="00D4FF">
                    <a:alpha val="4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71500" y="1285875"/>
              <a:ext cx="3429000" cy="476250"/>
            </a:xfrm>
            <a:prstGeom prst="roundRect">
              <a:avLst>
                <a:gd name="adj" fmla="val 24000"/>
              </a:avLst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890808" y="14449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主流工具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762000" y="1905000"/>
              <a:ext cx="3048000" cy="666750"/>
              <a:chOff x="762000" y="1905000"/>
              <a:chExt cx="3048000" cy="6667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762000" y="1905000"/>
                <a:ext cx="30480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>
                  <a:alpha val="4000"/>
                </a:srgbClr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876300" y="2066925"/>
                <a:ext cx="342900" cy="342900"/>
              </a:xfrm>
              <a:prstGeom prst="ellipse">
                <a:avLst/>
              </a:pr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86304" y="216598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C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318260" y="2042160"/>
                <a:ext cx="5849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Cursor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322070" y="2265045"/>
                <a:ext cx="24471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AI 原生 IDE，支持 Agent 模式自动编辑多文件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762000" y="2714625"/>
              <a:ext cx="3121247" cy="666750"/>
              <a:chOff x="762000" y="2714625"/>
              <a:chExt cx="3121247" cy="6667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762000" y="2714625"/>
                <a:ext cx="30480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>
                  <a:alpha val="4000"/>
                </a:srgbClr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876300" y="2876550"/>
                <a:ext cx="342900" cy="342900"/>
              </a:xfrm>
              <a:prstGeom prst="ellipse">
                <a:avLst/>
              </a:prstGeom>
              <a:solidFill>
                <a:srgbClr val="7B2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86304" y="297561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388FF"/>
                    </a:solidFill>
                    <a:latin typeface="Segoe UI"/>
                    <a:ea typeface="Microsoft YaHei"/>
                    <a:cs typeface="Segoe UI"/>
                  </a:rPr>
                  <a:t>R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318260" y="2851785"/>
                <a:ext cx="10134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Replit Agent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322070" y="3074670"/>
                <a:ext cx="25611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自然语言描述需求，AI 自主规划并部署完整应用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62000" y="3524250"/>
              <a:ext cx="3048000" cy="666750"/>
              <a:chOff x="762000" y="3524250"/>
              <a:chExt cx="3048000" cy="6667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762000" y="3524250"/>
                <a:ext cx="30480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>
                  <a:alpha val="4000"/>
                </a:srgbClr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876300" y="3686175"/>
                <a:ext cx="342900" cy="342900"/>
              </a:xfrm>
              <a:prstGeom prst="ellipse">
                <a:avLst/>
              </a:pr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86304" y="37852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B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318260" y="3661410"/>
                <a:ext cx="76137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Bolt.new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322070" y="3884295"/>
                <a:ext cx="211712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浏览器内全栈 AI 开发，即时预览与部署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62000" y="4333875"/>
              <a:ext cx="3048000" cy="666750"/>
              <a:chOff x="762000" y="4333875"/>
              <a:chExt cx="3048000" cy="6667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762000" y="4333875"/>
                <a:ext cx="30480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>
                  <a:alpha val="4000"/>
                </a:srgbClr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876300" y="4495800"/>
                <a:ext cx="342900" cy="342900"/>
              </a:xfrm>
              <a:prstGeom prst="ellipse">
                <a:avLst/>
              </a:prstGeom>
              <a:solidFill>
                <a:srgbClr val="7B2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986304" y="45948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388FF"/>
                    </a:solidFill>
                    <a:latin typeface="Segoe UI"/>
                    <a:ea typeface="Microsoft YaHei"/>
                    <a:cs typeface="Segoe UI"/>
                  </a:rPr>
                  <a:t>L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318260" y="4471035"/>
                <a:ext cx="10134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Lovable / v0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322070" y="4693920"/>
                <a:ext cx="23571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从 UI 设计稿直接生成前端代码，所见即所得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762000" y="5143500"/>
              <a:ext cx="3048000" cy="666750"/>
              <a:chOff x="762000" y="5143500"/>
              <a:chExt cx="3048000" cy="66675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762000" y="5143500"/>
                <a:ext cx="30480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>
                  <a:alpha val="4000"/>
                </a:srgbClr>
              </a:solidFill>
              <a:ln>
                <a:noFill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876300" y="5305425"/>
                <a:ext cx="342900" cy="342900"/>
              </a:xfrm>
              <a:prstGeom prst="ellipse">
                <a:avLst/>
              </a:pr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986304" y="540448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G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318260" y="5280660"/>
                <a:ext cx="115622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GitHub Copilot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322070" y="5503545"/>
                <a:ext cx="19431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代码补全与对话，集成主流 IDE 生态</a:t>
                </a:r>
              </a:p>
            </p:txBody>
          </p:sp>
        </p:grpSp>
      </p:grpSp>
      <p:grpSp>
        <p:nvGrpSpPr>
          <p:cNvPr id="111" name="Group 111"/>
          <p:cNvGrpSpPr/>
          <p:nvPr/>
        </p:nvGrpSpPr>
        <p:grpSpPr>
          <a:xfrm>
            <a:off x="4286250" y="1285875"/>
            <a:ext cx="3429000" cy="4953000"/>
            <a:chOff x="4286250" y="1285875"/>
            <a:chExt cx="3429000" cy="4953000"/>
          </a:xfrm>
        </p:grpSpPr>
        <p:sp>
          <p:nvSpPr>
            <p:cNvPr id="74" name="Rectangle 74"/>
            <p:cNvSpPr/>
            <p:nvPr/>
          </p:nvSpPr>
          <p:spPr>
            <a:xfrm>
              <a:off x="4286250" y="1285875"/>
              <a:ext cx="3429000" cy="4953000"/>
            </a:xfrm>
            <a:prstGeom prst="roundRect">
              <a:avLst>
                <a:gd name="adj" fmla="val 3333"/>
              </a:avLst>
            </a:prstGeom>
            <a:gradFill>
              <a:gsLst>
                <a:gs pos="0">
                  <a:srgbClr val="7B2FFF">
                    <a:alpha val="12000"/>
                  </a:srgbClr>
                </a:gs>
                <a:gs pos="100000">
                  <a:srgbClr val="7B2FFF">
                    <a:alpha val="4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4286250" y="1285875"/>
              <a:ext cx="3429000" cy="476250"/>
            </a:xfrm>
            <a:prstGeom prst="roundRect">
              <a:avLst>
                <a:gd name="adj" fmla="val 24000"/>
              </a:avLst>
            </a:prstGeom>
            <a:solidFill>
              <a:srgbClr val="7B2FFF">
                <a:alpha val="15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605558" y="14449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388FF"/>
                  </a:solidFill>
                  <a:latin typeface="Segoe UI"/>
                  <a:ea typeface="Microsoft YaHei"/>
                  <a:cs typeface="Segoe UI"/>
                </a:rPr>
                <a:t>工作流程</a:t>
              </a:r>
            </a:p>
          </p:txBody>
        </p:sp>
        <p:grpSp>
          <p:nvGrpSpPr>
            <p:cNvPr id="81" name="Group 81"/>
            <p:cNvGrpSpPr/>
            <p:nvPr/>
          </p:nvGrpSpPr>
          <p:grpSpPr>
            <a:xfrm>
              <a:off x="4524375" y="1952625"/>
              <a:ext cx="1807845" cy="438150"/>
              <a:chOff x="4524375" y="1952625"/>
              <a:chExt cx="1807845" cy="438150"/>
            </a:xfrm>
          </p:grpSpPr>
          <p:sp>
            <p:nvSpPr>
              <p:cNvPr id="77" name="Ellipse 77"/>
              <p:cNvSpPr/>
              <p:nvPr/>
            </p:nvSpPr>
            <p:spPr>
              <a:xfrm>
                <a:off x="4524375" y="1952625"/>
                <a:ext cx="381000" cy="381000"/>
              </a:xfrm>
              <a:prstGeom prst="ellipse">
                <a:avLst/>
              </a:prstGeom>
              <a:solidFill>
                <a:srgbClr val="7B2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4674432" y="2070735"/>
                <a:ext cx="8088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388FF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4986338" y="19931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描述需求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4989195" y="220789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用自然语言描述功能需求</a:t>
                </a:r>
              </a:p>
            </p:txBody>
          </p:sp>
        </p:grpSp>
        <p:sp>
          <p:nvSpPr>
            <p:cNvPr id="82" name="Line 82"/>
            <p:cNvSpPr/>
            <p:nvPr/>
          </p:nvSpPr>
          <p:spPr>
            <a:xfrm>
              <a:off x="4524375" y="17621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7B2FFF">
                  <a:alpha val="30000"/>
                </a:srgbClr>
              </a:solidFill>
              <a:custDash>
                <a:ds d="200000" sp="150000"/>
              </a:custDash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4524375" y="2571750"/>
              <a:ext cx="1825847" cy="438150"/>
              <a:chOff x="4524375" y="2571750"/>
              <a:chExt cx="1825847" cy="438150"/>
            </a:xfrm>
          </p:grpSpPr>
          <p:sp>
            <p:nvSpPr>
              <p:cNvPr id="83" name="Ellipse 83"/>
              <p:cNvSpPr/>
              <p:nvPr/>
            </p:nvSpPr>
            <p:spPr>
              <a:xfrm>
                <a:off x="4524375" y="2571750"/>
                <a:ext cx="381000" cy="381000"/>
              </a:xfrm>
              <a:prstGeom prst="ellipse">
                <a:avLst/>
              </a:prstGeom>
              <a:solidFill>
                <a:srgbClr val="7B2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4653429" y="26898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388FF"/>
                    </a:solidFill>
                    <a:latin typeface="Segoe UI"/>
                    <a:ea typeface="Microsoft YaHei"/>
                    <a:cs typeface="Segoe UI"/>
                  </a:rPr>
                  <a:t>2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4986338" y="2612231"/>
                <a:ext cx="83980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AI 生成代码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4989195" y="2827020"/>
                <a:ext cx="1361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LLM 理解意图并生成代码</a:t>
                </a:r>
              </a:p>
            </p:txBody>
          </p:sp>
        </p:grpSp>
        <p:sp>
          <p:nvSpPr>
            <p:cNvPr id="88" name="Line 88"/>
            <p:cNvSpPr/>
            <p:nvPr/>
          </p:nvSpPr>
          <p:spPr>
            <a:xfrm>
              <a:off x="4524375" y="2762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7B2FFF">
                  <a:alpha val="30000"/>
                </a:srgbClr>
              </a:solidFill>
              <a:custDash>
                <a:ds d="200000" sp="150000"/>
              </a:custDash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4524375" y="3190875"/>
              <a:ext cx="1447800" cy="438150"/>
              <a:chOff x="4524375" y="3190875"/>
              <a:chExt cx="1447800" cy="438150"/>
            </a:xfrm>
          </p:grpSpPr>
          <p:sp>
            <p:nvSpPr>
              <p:cNvPr id="89" name="Ellipse 89"/>
              <p:cNvSpPr/>
              <p:nvPr/>
            </p:nvSpPr>
            <p:spPr>
              <a:xfrm>
                <a:off x="4524375" y="3190875"/>
                <a:ext cx="381000" cy="381000"/>
              </a:xfrm>
              <a:prstGeom prst="ellipse">
                <a:avLst/>
              </a:prstGeom>
              <a:solidFill>
                <a:srgbClr val="7B2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4653429" y="330898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388FF"/>
                    </a:solidFill>
                    <a:latin typeface="Segoe UI"/>
                    <a:ea typeface="Microsoft YaHei"/>
                    <a:cs typeface="Segoe UI"/>
                  </a:rPr>
                  <a:t>3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4986338" y="32313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即时预览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4989195" y="3446145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实时查看运行效果</a:t>
                </a:r>
              </a:p>
            </p:txBody>
          </p:sp>
        </p:grpSp>
        <p:sp>
          <p:nvSpPr>
            <p:cNvPr id="94" name="Line 94"/>
            <p:cNvSpPr/>
            <p:nvPr/>
          </p:nvSpPr>
          <p:spPr>
            <a:xfrm>
              <a:off x="4524375" y="33813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7B2FFF">
                  <a:alpha val="30000"/>
                </a:srgbClr>
              </a:solidFill>
              <a:custDash>
                <a:ds d="200000" sp="150000"/>
              </a:custDash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4524375" y="3810000"/>
              <a:ext cx="1687830" cy="438150"/>
              <a:chOff x="4524375" y="3810000"/>
              <a:chExt cx="1687830" cy="438150"/>
            </a:xfrm>
          </p:grpSpPr>
          <p:sp>
            <p:nvSpPr>
              <p:cNvPr id="95" name="Ellipse 95"/>
              <p:cNvSpPr/>
              <p:nvPr/>
            </p:nvSpPr>
            <p:spPr>
              <a:xfrm>
                <a:off x="4524375" y="3810000"/>
                <a:ext cx="381000" cy="381000"/>
              </a:xfrm>
              <a:prstGeom prst="ellipse">
                <a:avLst/>
              </a:prstGeom>
              <a:solidFill>
                <a:srgbClr val="7B2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4653429" y="392811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388FF"/>
                    </a:solidFill>
                    <a:latin typeface="Segoe UI"/>
                    <a:ea typeface="Microsoft YaHei"/>
                    <a:cs typeface="Segoe UI"/>
                  </a:rPr>
                  <a:t>4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4986338" y="38504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迭代优化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4989195" y="4065270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对话式反馈，持续改进</a:t>
                </a:r>
              </a:p>
            </p:txBody>
          </p:sp>
        </p:grpSp>
        <p:sp>
          <p:nvSpPr>
            <p:cNvPr id="100" name="Line 100"/>
            <p:cNvSpPr/>
            <p:nvPr/>
          </p:nvSpPr>
          <p:spPr>
            <a:xfrm>
              <a:off x="4524375" y="4000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7B2FFF">
                  <a:alpha val="30000"/>
                </a:srgbClr>
              </a:solidFill>
              <a:custDash>
                <a:ds d="200000" sp="150000"/>
              </a:custDash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4524375" y="4429125"/>
              <a:ext cx="1567815" cy="438150"/>
              <a:chOff x="4524375" y="4429125"/>
              <a:chExt cx="1567815" cy="438150"/>
            </a:xfrm>
          </p:grpSpPr>
          <p:sp>
            <p:nvSpPr>
              <p:cNvPr id="101" name="Ellipse 101"/>
              <p:cNvSpPr/>
              <p:nvPr/>
            </p:nvSpPr>
            <p:spPr>
              <a:xfrm>
                <a:off x="4524375" y="4429125"/>
                <a:ext cx="381000" cy="381000"/>
              </a:xfrm>
              <a:prstGeom prst="ellipse">
                <a:avLst/>
              </a:prstGeom>
              <a:solidFill>
                <a:srgbClr val="7B2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4653429" y="45472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388FF"/>
                    </a:solidFill>
                    <a:latin typeface="Segoe UI"/>
                    <a:ea typeface="Microsoft YaHei"/>
                    <a:cs typeface="Segoe UI"/>
                  </a:rPr>
                  <a:t>5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4986338" y="44696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部署上线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4989195" y="46843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一键部署到生产环境</a:t>
                </a: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4476750" y="5191125"/>
              <a:ext cx="3048000" cy="762000"/>
              <a:chOff x="4476750" y="5191125"/>
              <a:chExt cx="3048000" cy="762000"/>
            </a:xfrm>
          </p:grpSpPr>
          <p:sp>
            <p:nvSpPr>
              <p:cNvPr id="106" name="Rectangle 106"/>
              <p:cNvSpPr/>
              <p:nvPr/>
            </p:nvSpPr>
            <p:spPr>
              <a:xfrm>
                <a:off x="4476750" y="5191125"/>
                <a:ext cx="3048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6000"/>
                </a:srgbClr>
              </a:solidFill>
              <a:ln>
                <a:noFill/>
              </a:ln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5630895" y="5315902"/>
                <a:ext cx="7397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💡 核心理念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5077206" y="5551170"/>
                <a:ext cx="18470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CBD5E1"/>
                    </a:solidFill>
                    <a:latin typeface="Segoe UI"/>
                    <a:ea typeface="Microsoft YaHei"/>
                    <a:cs typeface="Segoe UI"/>
                  </a:rPr>
                  <a:t>开发者专注于"做什么"和"为什么"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5134213" y="5722620"/>
                <a:ext cx="173307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CBD5E1"/>
                    </a:solidFill>
                    <a:latin typeface="Segoe UI"/>
                    <a:ea typeface="Microsoft YaHei"/>
                    <a:cs typeface="Segoe UI"/>
                  </a:rPr>
                  <a:t>AI 负责解决"怎么做"的实现细节</a:t>
                </a:r>
              </a:p>
            </p:txBody>
          </p:sp>
        </p:grpSp>
      </p:grpSp>
      <p:grpSp>
        <p:nvGrpSpPr>
          <p:cNvPr id="139" name="Group 139"/>
          <p:cNvGrpSpPr/>
          <p:nvPr/>
        </p:nvGrpSpPr>
        <p:grpSpPr>
          <a:xfrm>
            <a:off x="8001000" y="1285875"/>
            <a:ext cx="3619500" cy="4953000"/>
            <a:chOff x="8001000" y="1285875"/>
            <a:chExt cx="3619500" cy="4953000"/>
          </a:xfrm>
        </p:grpSpPr>
        <p:sp>
          <p:nvSpPr>
            <p:cNvPr id="112" name="Rectangle 112"/>
            <p:cNvSpPr/>
            <p:nvPr/>
          </p:nvSpPr>
          <p:spPr>
            <a:xfrm>
              <a:off x="8001000" y="1285875"/>
              <a:ext cx="3619500" cy="4953000"/>
            </a:xfrm>
            <a:prstGeom prst="roundRect">
              <a:avLst>
                <a:gd name="adj" fmla="val 3158"/>
              </a:avLst>
            </a:prstGeom>
            <a:gradFill>
              <a:gsLst>
                <a:gs pos="0">
                  <a:srgbClr val="00D4FF">
                    <a:alpha val="12000"/>
                  </a:srgbClr>
                </a:gs>
                <a:gs pos="100000">
                  <a:srgbClr val="00D4FF">
                    <a:alpha val="4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8001000" y="1285875"/>
              <a:ext cx="3619500" cy="476250"/>
            </a:xfrm>
            <a:prstGeom prst="roundRect">
              <a:avLst>
                <a:gd name="adj" fmla="val 24000"/>
              </a:avLst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9415558" y="14449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应用场景</a:t>
              </a:r>
            </a:p>
          </p:txBody>
        </p:sp>
        <p:grpSp>
          <p:nvGrpSpPr>
            <p:cNvPr id="119" name="Group 119"/>
            <p:cNvGrpSpPr/>
            <p:nvPr/>
          </p:nvGrpSpPr>
          <p:grpSpPr>
            <a:xfrm>
              <a:off x="8191500" y="1905000"/>
              <a:ext cx="3238500" cy="762000"/>
              <a:chOff x="8191500" y="1905000"/>
              <a:chExt cx="3238500" cy="762000"/>
            </a:xfrm>
          </p:grpSpPr>
          <p:sp>
            <p:nvSpPr>
              <p:cNvPr id="115" name="Rectangle 115"/>
              <p:cNvSpPr/>
              <p:nvPr/>
            </p:nvSpPr>
            <p:spPr>
              <a:xfrm>
                <a:off x="8191500" y="1905000"/>
                <a:ext cx="32385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8367712" y="2050256"/>
                <a:ext cx="11075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🚀 快速原型开发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8370570" y="2284095"/>
                <a:ext cx="17210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几分钟内从想法到可运行的 MVP</a:t>
                </a: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8370570" y="2455545"/>
                <a:ext cx="17030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大幅降低创业和验证想法的门槛</a:t>
                </a: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8191500" y="2809875"/>
              <a:ext cx="3238500" cy="762000"/>
              <a:chOff x="8191500" y="2809875"/>
              <a:chExt cx="3238500" cy="762000"/>
            </a:xfrm>
          </p:grpSpPr>
          <p:sp>
            <p:nvSpPr>
              <p:cNvPr id="120" name="Rectangle 120"/>
              <p:cNvSpPr/>
              <p:nvPr/>
            </p:nvSpPr>
            <p:spPr>
              <a:xfrm>
                <a:off x="8191500" y="2809875"/>
                <a:ext cx="32385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8367712" y="2955131"/>
                <a:ext cx="11784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🎨 前端与 UI 构建</a:t>
                </a:r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8370570" y="3188970"/>
                <a:ext cx="22251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描述界面布局，AI 生成 HTML/CSS/React</a:t>
                </a:r>
              </a:p>
            </p:txBody>
          </p:sp>
          <p:sp>
            <p:nvSpPr>
              <p:cNvPr id="123" name="TextBox 123"/>
              <p:cNvSpPr txBox="1"/>
              <p:nvPr/>
            </p:nvSpPr>
            <p:spPr>
              <a:xfrm>
                <a:off x="8370570" y="3360420"/>
                <a:ext cx="17030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设计师可直接将创意转化为代码</a:t>
                </a:r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8191500" y="3714750"/>
              <a:ext cx="3238500" cy="762000"/>
              <a:chOff x="8191500" y="3714750"/>
              <a:chExt cx="3238500" cy="762000"/>
            </a:xfrm>
          </p:grpSpPr>
          <p:sp>
            <p:nvSpPr>
              <p:cNvPr id="125" name="Rectangle 125"/>
              <p:cNvSpPr/>
              <p:nvPr/>
            </p:nvSpPr>
            <p:spPr>
              <a:xfrm>
                <a:off x="8191500" y="3714750"/>
                <a:ext cx="32385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8367712" y="3860006"/>
                <a:ext cx="11075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📊 数据分析脚本</a:t>
                </a:r>
              </a:p>
            </p:txBody>
          </p:sp>
          <p:sp>
            <p:nvSpPr>
              <p:cNvPr id="127" name="TextBox 127"/>
              <p:cNvSpPr txBox="1"/>
              <p:nvPr/>
            </p:nvSpPr>
            <p:spPr>
              <a:xfrm>
                <a:off x="8370570" y="409384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用自然语言描述分析需求</a:t>
                </a:r>
              </a:p>
            </p:txBody>
          </p:sp>
          <p:sp>
            <p:nvSpPr>
              <p:cNvPr id="128" name="TextBox 128"/>
              <p:cNvSpPr txBox="1"/>
              <p:nvPr/>
            </p:nvSpPr>
            <p:spPr>
              <a:xfrm>
                <a:off x="8370570" y="4265295"/>
                <a:ext cx="19611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AI 自动生成 Python/R 数据处理代码</a:t>
                </a:r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>
              <a:off x="8191500" y="4619625"/>
              <a:ext cx="3238500" cy="762000"/>
              <a:chOff x="8191500" y="4619625"/>
              <a:chExt cx="3238500" cy="762000"/>
            </a:xfrm>
          </p:grpSpPr>
          <p:sp>
            <p:nvSpPr>
              <p:cNvPr id="130" name="Rectangle 130"/>
              <p:cNvSpPr/>
              <p:nvPr/>
            </p:nvSpPr>
            <p:spPr>
              <a:xfrm>
                <a:off x="8191500" y="4619625"/>
                <a:ext cx="32385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8367712" y="4764881"/>
                <a:ext cx="95006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🔧 自动化脚本</a:t>
                </a:r>
              </a:p>
            </p:txBody>
          </p:sp>
          <p:sp>
            <p:nvSpPr>
              <p:cNvPr id="132" name="TextBox 132"/>
              <p:cNvSpPr txBox="1"/>
              <p:nvPr/>
            </p:nvSpPr>
            <p:spPr>
              <a:xfrm>
                <a:off x="8370570" y="4998720"/>
                <a:ext cx="184108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描述任务流程，AI 编写自动化脚本</a:t>
                </a: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8370570" y="5170170"/>
                <a:ext cx="17870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文件处理、API 调用、定时任务等</a:t>
                </a:r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>
              <a:off x="8191500" y="5524500"/>
              <a:ext cx="3238500" cy="523875"/>
              <a:chOff x="8191500" y="5524500"/>
              <a:chExt cx="3238500" cy="523875"/>
            </a:xfrm>
          </p:grpSpPr>
          <p:sp>
            <p:nvSpPr>
              <p:cNvPr id="135" name="Rectangle 135"/>
              <p:cNvSpPr/>
              <p:nvPr/>
            </p:nvSpPr>
            <p:spPr>
              <a:xfrm>
                <a:off x="8191500" y="5524500"/>
                <a:ext cx="323850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FFFFFF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8367712" y="5641181"/>
                <a:ext cx="95006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📚 学习与教育</a:t>
                </a:r>
              </a:p>
            </p:txBody>
          </p:sp>
          <p:sp>
            <p:nvSpPr>
              <p:cNvPr id="137" name="TextBox 137"/>
              <p:cNvSpPr txBox="1"/>
              <p:nvPr/>
            </p:nvSpPr>
            <p:spPr>
              <a:xfrm>
                <a:off x="8370570" y="5855970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编程初学者快速上手实践</a:t>
                </a:r>
              </a:p>
            </p:txBody>
          </p:sp>
        </p:grpSp>
      </p:grpSp>
      <p:sp>
        <p:nvSpPr>
          <p:cNvPr id="140" name="TextBox 140"/>
          <p:cNvSpPr txBox="1"/>
          <p:nvPr/>
        </p:nvSpPr>
        <p:spPr>
          <a:xfrm>
            <a:off x="11453146" y="6554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50000">
                <a:srgbClr val="0F2847"/>
              </a:gs>
              <a:gs pos="100000">
                <a:srgbClr val="1A5276"/>
              </a:gs>
            </a:gsLst>
            <a:lin ang="2700000" scaled="1"/>
          </a:gra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36" name="Ellipse 36"/>
          <p:cNvSpPr/>
          <p:nvPr/>
        </p:nvSpPr>
        <p:spPr>
          <a:xfrm>
            <a:off x="6019800" y="3352800"/>
            <a:ext cx="152400" cy="152400"/>
          </a:xfrm>
          <a:prstGeom prst="ellipse">
            <a:avLst/>
          </a:prstGeom>
          <a:solidFill>
            <a:srgbClr val="00D4FF">
              <a:alpha val="30000"/>
            </a:srgbClr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3286125" y="1857375"/>
            <a:ext cx="95250" cy="95250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4248150" y="1390650"/>
            <a:ext cx="76200" cy="76200"/>
          </a:xfrm>
          <a:prstGeom prst="ellipse">
            <a:avLst/>
          </a:prstGeom>
          <a:solidFill>
            <a:srgbClr val="7B2FFF">
              <a:alpha val="20000"/>
            </a:srgbClr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5191125" y="1666875"/>
            <a:ext cx="95250" cy="95250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6915150" y="1485900"/>
            <a:ext cx="76200" cy="76200"/>
          </a:xfrm>
          <a:prstGeom prst="ellipse">
            <a:avLst/>
          </a:prstGeom>
          <a:solidFill>
            <a:srgbClr val="7B2FFF">
              <a:alpha val="20000"/>
            </a:srgbClr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7858125" y="1857375"/>
            <a:ext cx="95250" cy="95250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8724900" y="2343150"/>
            <a:ext cx="76200" cy="76200"/>
          </a:xfrm>
          <a:prstGeom prst="ellipse">
            <a:avLst/>
          </a:prstGeom>
          <a:solidFill>
            <a:srgbClr val="7B2FFF">
              <a:alpha val="20000"/>
            </a:srgbClr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2628900" y="3295650"/>
            <a:ext cx="76200" cy="76200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3000375" y="4524375"/>
            <a:ext cx="95250" cy="95250"/>
          </a:xfrm>
          <a:prstGeom prst="ellipse">
            <a:avLst/>
          </a:prstGeom>
          <a:solidFill>
            <a:srgbClr val="7B2FFF">
              <a:alpha val="20000"/>
            </a:srgbClr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4248150" y="5105400"/>
            <a:ext cx="76200" cy="76200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5476875" y="5476875"/>
            <a:ext cx="95250" cy="95250"/>
          </a:xfrm>
          <a:prstGeom prst="ellipse">
            <a:avLst/>
          </a:prstGeom>
          <a:solidFill>
            <a:srgbClr val="7B2FFF">
              <a:alpha val="20000"/>
            </a:srgbClr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6629400" y="5295900"/>
            <a:ext cx="76200" cy="76200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7858125" y="4905375"/>
            <a:ext cx="95250" cy="95250"/>
          </a:xfrm>
          <a:prstGeom prst="ellipse">
            <a:avLst/>
          </a:prstGeom>
          <a:solidFill>
            <a:srgbClr val="7B2FFF">
              <a:alpha val="20000"/>
            </a:srgbClr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9010650" y="4248150"/>
            <a:ext cx="76200" cy="76200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9477375" y="3286125"/>
            <a:ext cx="95250" cy="95250"/>
          </a:xfrm>
          <a:prstGeom prst="ellipse">
            <a:avLst/>
          </a:prstGeom>
          <a:solidFill>
            <a:srgbClr val="7B2FFF">
              <a:alpha val="20000"/>
            </a:srgbClr>
          </a:solidFill>
          <a:ln>
            <a:noFill/>
          </a:ln>
        </p:spPr>
      </p:sp>
      <p:sp>
        <p:nvSpPr>
          <p:cNvPr id="51" name="Line 51"/>
          <p:cNvSpPr/>
          <p:nvPr/>
        </p:nvSpPr>
        <p:spPr>
          <a:xfrm>
            <a:off x="3333750" y="1905000"/>
            <a:ext cx="2762250" cy="1524000"/>
          </a:xfrm>
          <a:custGeom>
            <a:avLst/>
            <a:gdLst/>
            <a:ahLst/>
            <a:cxnLst/>
            <a:rect l="l" t="t" r="r" b="b"/>
            <a:pathLst>
              <a:path w="2762250" h="1524000">
                <a:moveTo>
                  <a:pt x="2762250" y="15240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D4FF">
                <a:alpha val="15000"/>
              </a:srgbClr>
            </a:solidFill>
          </a:ln>
        </p:spPr>
      </p:sp>
      <p:sp>
        <p:nvSpPr>
          <p:cNvPr id="52" name="Line 52"/>
          <p:cNvSpPr/>
          <p:nvPr/>
        </p:nvSpPr>
        <p:spPr>
          <a:xfrm>
            <a:off x="4286250" y="1428750"/>
            <a:ext cx="1809750" cy="2000250"/>
          </a:xfrm>
          <a:custGeom>
            <a:avLst/>
            <a:gdLst/>
            <a:ahLst/>
            <a:cxnLst/>
            <a:rect l="l" t="t" r="r" b="b"/>
            <a:pathLst>
              <a:path w="1809750" h="2000250">
                <a:moveTo>
                  <a:pt x="1809750" y="20002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7B2FFF">
                <a:alpha val="15000"/>
              </a:srgbClr>
            </a:solidFill>
          </a:ln>
        </p:spPr>
      </p:sp>
      <p:sp>
        <p:nvSpPr>
          <p:cNvPr id="53" name="Line 53"/>
          <p:cNvSpPr/>
          <p:nvPr/>
        </p:nvSpPr>
        <p:spPr>
          <a:xfrm>
            <a:off x="5238750" y="1714500"/>
            <a:ext cx="857250" cy="1714500"/>
          </a:xfrm>
          <a:custGeom>
            <a:avLst/>
            <a:gdLst/>
            <a:ahLst/>
            <a:cxnLst/>
            <a:rect l="l" t="t" r="r" b="b"/>
            <a:pathLst>
              <a:path w="857250" h="1714500">
                <a:moveTo>
                  <a:pt x="857250" y="17145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D4FF">
                <a:alpha val="15000"/>
              </a:srgbClr>
            </a:solidFill>
          </a:ln>
        </p:spPr>
      </p:sp>
      <p:sp>
        <p:nvSpPr>
          <p:cNvPr id="54" name="Line 54"/>
          <p:cNvSpPr/>
          <p:nvPr/>
        </p:nvSpPr>
        <p:spPr>
          <a:xfrm>
            <a:off x="6096000" y="1524000"/>
            <a:ext cx="857250" cy="1905000"/>
          </a:xfrm>
          <a:custGeom>
            <a:avLst/>
            <a:gdLst/>
            <a:ahLst/>
            <a:cxnLst/>
            <a:rect l="l" t="t" r="r" b="b"/>
            <a:pathLst>
              <a:path w="857250" h="1905000">
                <a:moveTo>
                  <a:pt x="0" y="1905000"/>
                </a:moveTo>
                <a:lnTo>
                  <a:pt x="857250" y="0"/>
                </a:lnTo>
              </a:path>
            </a:pathLst>
          </a:custGeom>
          <a:noFill/>
          <a:ln w="9525">
            <a:solidFill>
              <a:srgbClr val="7B2FFF">
                <a:alpha val="15000"/>
              </a:srgbClr>
            </a:solidFill>
          </a:ln>
        </p:spPr>
      </p:sp>
      <p:sp>
        <p:nvSpPr>
          <p:cNvPr id="55" name="Line 55"/>
          <p:cNvSpPr/>
          <p:nvPr/>
        </p:nvSpPr>
        <p:spPr>
          <a:xfrm>
            <a:off x="6096000" y="1905000"/>
            <a:ext cx="1809750" cy="1524000"/>
          </a:xfrm>
          <a:custGeom>
            <a:avLst/>
            <a:gdLst/>
            <a:ahLst/>
            <a:cxnLst/>
            <a:rect l="l" t="t" r="r" b="b"/>
            <a:pathLst>
              <a:path w="1809750" h="1524000">
                <a:moveTo>
                  <a:pt x="0" y="1524000"/>
                </a:moveTo>
                <a:lnTo>
                  <a:pt x="1809750" y="0"/>
                </a:lnTo>
              </a:path>
            </a:pathLst>
          </a:custGeom>
          <a:noFill/>
          <a:ln w="9525">
            <a:solidFill>
              <a:srgbClr val="00D4FF">
                <a:alpha val="15000"/>
              </a:srgbClr>
            </a:solidFill>
          </a:ln>
        </p:spPr>
      </p:sp>
      <p:sp>
        <p:nvSpPr>
          <p:cNvPr id="56" name="Line 56"/>
          <p:cNvSpPr/>
          <p:nvPr/>
        </p:nvSpPr>
        <p:spPr>
          <a:xfrm>
            <a:off x="6096000" y="2381250"/>
            <a:ext cx="2667000" cy="1047750"/>
          </a:xfrm>
          <a:custGeom>
            <a:avLst/>
            <a:gdLst/>
            <a:ahLst/>
            <a:cxnLst/>
            <a:rect l="l" t="t" r="r" b="b"/>
            <a:pathLst>
              <a:path w="2667000" h="1047750">
                <a:moveTo>
                  <a:pt x="0" y="1047750"/>
                </a:moveTo>
                <a:lnTo>
                  <a:pt x="2667000" y="0"/>
                </a:lnTo>
              </a:path>
            </a:pathLst>
          </a:custGeom>
          <a:noFill/>
          <a:ln w="9525">
            <a:solidFill>
              <a:srgbClr val="7B2FFF">
                <a:alpha val="15000"/>
              </a:srgbClr>
            </a:solidFill>
          </a:ln>
        </p:spPr>
      </p:sp>
      <p:sp>
        <p:nvSpPr>
          <p:cNvPr id="57" name="Line 57"/>
          <p:cNvSpPr/>
          <p:nvPr/>
        </p:nvSpPr>
        <p:spPr>
          <a:xfrm>
            <a:off x="2667000" y="3333750"/>
            <a:ext cx="3429000" cy="95250"/>
          </a:xfrm>
          <a:custGeom>
            <a:avLst/>
            <a:gdLst/>
            <a:ahLst/>
            <a:cxnLst/>
            <a:rect l="l" t="t" r="r" b="b"/>
            <a:pathLst>
              <a:path w="3429000" h="95250">
                <a:moveTo>
                  <a:pt x="3429000" y="952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D4FF">
                <a:alpha val="15000"/>
              </a:srgbClr>
            </a:solidFill>
          </a:ln>
        </p:spPr>
      </p:sp>
      <p:sp>
        <p:nvSpPr>
          <p:cNvPr id="58" name="Line 58"/>
          <p:cNvSpPr/>
          <p:nvPr/>
        </p:nvSpPr>
        <p:spPr>
          <a:xfrm>
            <a:off x="3048000" y="3429000"/>
            <a:ext cx="3048000" cy="1143000"/>
          </a:xfrm>
          <a:custGeom>
            <a:avLst/>
            <a:gdLst/>
            <a:ahLst/>
            <a:cxnLst/>
            <a:rect l="l" t="t" r="r" b="b"/>
            <a:pathLst>
              <a:path w="3048000" h="1143000">
                <a:moveTo>
                  <a:pt x="3048000" y="0"/>
                </a:moveTo>
                <a:lnTo>
                  <a:pt x="0" y="1143000"/>
                </a:lnTo>
              </a:path>
            </a:pathLst>
          </a:custGeom>
          <a:noFill/>
          <a:ln w="9525">
            <a:solidFill>
              <a:srgbClr val="7B2FFF">
                <a:alpha val="15000"/>
              </a:srgbClr>
            </a:solidFill>
          </a:ln>
        </p:spPr>
      </p:sp>
      <p:sp>
        <p:nvSpPr>
          <p:cNvPr id="59" name="Line 59"/>
          <p:cNvSpPr/>
          <p:nvPr/>
        </p:nvSpPr>
        <p:spPr>
          <a:xfrm>
            <a:off x="4286250" y="3429000"/>
            <a:ext cx="1809750" cy="1714500"/>
          </a:xfrm>
          <a:custGeom>
            <a:avLst/>
            <a:gdLst/>
            <a:ahLst/>
            <a:cxnLst/>
            <a:rect l="l" t="t" r="r" b="b"/>
            <a:pathLst>
              <a:path w="1809750" h="1714500">
                <a:moveTo>
                  <a:pt x="1809750" y="0"/>
                </a:moveTo>
                <a:lnTo>
                  <a:pt x="0" y="1714500"/>
                </a:lnTo>
              </a:path>
            </a:pathLst>
          </a:custGeom>
          <a:noFill/>
          <a:ln w="9525">
            <a:solidFill>
              <a:srgbClr val="00D4FF">
                <a:alpha val="15000"/>
              </a:srgbClr>
            </a:solidFill>
          </a:ln>
        </p:spPr>
      </p:sp>
      <p:sp>
        <p:nvSpPr>
          <p:cNvPr id="60" name="Line 60"/>
          <p:cNvSpPr/>
          <p:nvPr/>
        </p:nvSpPr>
        <p:spPr>
          <a:xfrm>
            <a:off x="5524500" y="3429000"/>
            <a:ext cx="571500" cy="2095500"/>
          </a:xfrm>
          <a:custGeom>
            <a:avLst/>
            <a:gdLst/>
            <a:ahLst/>
            <a:cxnLst/>
            <a:rect l="l" t="t" r="r" b="b"/>
            <a:pathLst>
              <a:path w="571500" h="2095500">
                <a:moveTo>
                  <a:pt x="571500" y="0"/>
                </a:moveTo>
                <a:lnTo>
                  <a:pt x="0" y="2095500"/>
                </a:lnTo>
              </a:path>
            </a:pathLst>
          </a:custGeom>
          <a:noFill/>
          <a:ln w="9525">
            <a:solidFill>
              <a:srgbClr val="7B2FFF">
                <a:alpha val="15000"/>
              </a:srgbClr>
            </a:solidFill>
          </a:ln>
        </p:spPr>
      </p:sp>
      <p:sp>
        <p:nvSpPr>
          <p:cNvPr id="61" name="Line 61"/>
          <p:cNvSpPr/>
          <p:nvPr/>
        </p:nvSpPr>
        <p:spPr>
          <a:xfrm>
            <a:off x="6096000" y="3429000"/>
            <a:ext cx="571500" cy="1905000"/>
          </a:xfrm>
          <a:custGeom>
            <a:avLst/>
            <a:gdLst/>
            <a:ahLst/>
            <a:cxnLst/>
            <a:rect l="l" t="t" r="r" b="b"/>
            <a:pathLst>
              <a:path w="571500" h="1905000">
                <a:moveTo>
                  <a:pt x="0" y="0"/>
                </a:moveTo>
                <a:lnTo>
                  <a:pt x="571500" y="1905000"/>
                </a:lnTo>
              </a:path>
            </a:pathLst>
          </a:custGeom>
          <a:noFill/>
          <a:ln w="9525">
            <a:solidFill>
              <a:srgbClr val="00D4FF">
                <a:alpha val="15000"/>
              </a:srgbClr>
            </a:solidFill>
          </a:ln>
        </p:spPr>
      </p:sp>
      <p:sp>
        <p:nvSpPr>
          <p:cNvPr id="62" name="Line 62"/>
          <p:cNvSpPr/>
          <p:nvPr/>
        </p:nvSpPr>
        <p:spPr>
          <a:xfrm>
            <a:off x="6096000" y="3429000"/>
            <a:ext cx="1809750" cy="1524000"/>
          </a:xfrm>
          <a:custGeom>
            <a:avLst/>
            <a:gdLst/>
            <a:ahLst/>
            <a:cxnLst/>
            <a:rect l="l" t="t" r="r" b="b"/>
            <a:pathLst>
              <a:path w="1809750" h="1524000">
                <a:moveTo>
                  <a:pt x="0" y="0"/>
                </a:moveTo>
                <a:lnTo>
                  <a:pt x="1809750" y="1524000"/>
                </a:lnTo>
              </a:path>
            </a:pathLst>
          </a:custGeom>
          <a:noFill/>
          <a:ln w="9525">
            <a:solidFill>
              <a:srgbClr val="7B2FFF">
                <a:alpha val="15000"/>
              </a:srgbClr>
            </a:solidFill>
          </a:ln>
        </p:spPr>
      </p:sp>
      <p:sp>
        <p:nvSpPr>
          <p:cNvPr id="63" name="Line 63"/>
          <p:cNvSpPr/>
          <p:nvPr/>
        </p:nvSpPr>
        <p:spPr>
          <a:xfrm>
            <a:off x="6096000" y="3429000"/>
            <a:ext cx="2952750" cy="857250"/>
          </a:xfrm>
          <a:custGeom>
            <a:avLst/>
            <a:gdLst/>
            <a:ahLst/>
            <a:cxnLst/>
            <a:rect l="l" t="t" r="r" b="b"/>
            <a:pathLst>
              <a:path w="2952750" h="857250">
                <a:moveTo>
                  <a:pt x="0" y="0"/>
                </a:moveTo>
                <a:lnTo>
                  <a:pt x="2952750" y="857250"/>
                </a:lnTo>
              </a:path>
            </a:pathLst>
          </a:custGeom>
          <a:noFill/>
          <a:ln w="9525">
            <a:solidFill>
              <a:srgbClr val="00D4FF">
                <a:alpha val="15000"/>
              </a:srgbClr>
            </a:solidFill>
          </a:ln>
        </p:spPr>
      </p:sp>
      <p:sp>
        <p:nvSpPr>
          <p:cNvPr id="64" name="Line 64"/>
          <p:cNvSpPr/>
          <p:nvPr/>
        </p:nvSpPr>
        <p:spPr>
          <a:xfrm>
            <a:off x="6096000" y="3333750"/>
            <a:ext cx="3429000" cy="95250"/>
          </a:xfrm>
          <a:custGeom>
            <a:avLst/>
            <a:gdLst/>
            <a:ahLst/>
            <a:cxnLst/>
            <a:rect l="l" t="t" r="r" b="b"/>
            <a:pathLst>
              <a:path w="3429000" h="95250">
                <a:moveTo>
                  <a:pt x="0" y="9525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7B2FFF">
                <a:alpha val="15000"/>
              </a:srgbClr>
            </a:solidFill>
          </a:ln>
        </p:spPr>
      </p:sp>
      <p:sp>
        <p:nvSpPr>
          <p:cNvPr id="65" name="Line 65"/>
          <p:cNvSpPr/>
          <p:nvPr/>
        </p:nvSpPr>
        <p:spPr>
          <a:xfrm>
            <a:off x="3333750" y="1428750"/>
            <a:ext cx="952500" cy="476250"/>
          </a:xfrm>
          <a:custGeom>
            <a:avLst/>
            <a:gdLst/>
            <a:ahLst/>
            <a:cxnLst/>
            <a:rect l="l" t="t" r="r" b="b"/>
            <a:pathLst>
              <a:path w="952500" h="476250">
                <a:moveTo>
                  <a:pt x="0" y="476250"/>
                </a:moveTo>
                <a:lnTo>
                  <a:pt x="952500" y="0"/>
                </a:lnTo>
              </a:path>
            </a:pathLst>
          </a:custGeom>
          <a:noFill/>
          <a:ln w="4762">
            <a:solidFill>
              <a:srgbClr val="FFFFFF">
                <a:alpha val="8000"/>
              </a:srgbClr>
            </a:solidFill>
          </a:ln>
        </p:spPr>
      </p:sp>
      <p:sp>
        <p:nvSpPr>
          <p:cNvPr id="66" name="Line 66"/>
          <p:cNvSpPr/>
          <p:nvPr/>
        </p:nvSpPr>
        <p:spPr>
          <a:xfrm>
            <a:off x="4286250" y="1428750"/>
            <a:ext cx="952500" cy="285750"/>
          </a:xfrm>
          <a:custGeom>
            <a:avLst/>
            <a:gdLst/>
            <a:ahLst/>
            <a:cxnLst/>
            <a:rect l="l" t="t" r="r" b="b"/>
            <a:pathLst>
              <a:path w="952500" h="285750">
                <a:moveTo>
                  <a:pt x="0" y="0"/>
                </a:moveTo>
                <a:lnTo>
                  <a:pt x="952500" y="285750"/>
                </a:lnTo>
              </a:path>
            </a:pathLst>
          </a:custGeom>
          <a:noFill/>
          <a:ln w="4762">
            <a:solidFill>
              <a:srgbClr val="FFFFFF">
                <a:alpha val="8000"/>
              </a:srgbClr>
            </a:solidFill>
          </a:ln>
        </p:spPr>
      </p:sp>
      <p:sp>
        <p:nvSpPr>
          <p:cNvPr id="67" name="Line 67"/>
          <p:cNvSpPr/>
          <p:nvPr/>
        </p:nvSpPr>
        <p:spPr>
          <a:xfrm>
            <a:off x="6953250" y="1524000"/>
            <a:ext cx="952500" cy="381000"/>
          </a:xfrm>
          <a:custGeom>
            <a:avLst/>
            <a:gdLst/>
            <a:ahLst/>
            <a:cxnLst/>
            <a:rect l="l" t="t" r="r" b="b"/>
            <a:pathLst>
              <a:path w="952500" h="381000">
                <a:moveTo>
                  <a:pt x="0" y="0"/>
                </a:moveTo>
                <a:lnTo>
                  <a:pt x="952500" y="381000"/>
                </a:lnTo>
              </a:path>
            </a:pathLst>
          </a:custGeom>
          <a:noFill/>
          <a:ln w="4762">
            <a:solidFill>
              <a:srgbClr val="FFFFFF">
                <a:alpha val="8000"/>
              </a:srgbClr>
            </a:solidFill>
          </a:ln>
        </p:spPr>
      </p:sp>
      <p:sp>
        <p:nvSpPr>
          <p:cNvPr id="68" name="Line 68"/>
          <p:cNvSpPr/>
          <p:nvPr/>
        </p:nvSpPr>
        <p:spPr>
          <a:xfrm>
            <a:off x="3048000" y="4572000"/>
            <a:ext cx="1238250" cy="571500"/>
          </a:xfrm>
          <a:custGeom>
            <a:avLst/>
            <a:gdLst/>
            <a:ahLst/>
            <a:cxnLst/>
            <a:rect l="l" t="t" r="r" b="b"/>
            <a:pathLst>
              <a:path w="1238250" h="571500">
                <a:moveTo>
                  <a:pt x="0" y="0"/>
                </a:moveTo>
                <a:lnTo>
                  <a:pt x="1238250" y="571500"/>
                </a:lnTo>
              </a:path>
            </a:pathLst>
          </a:custGeom>
          <a:noFill/>
          <a:ln w="4762">
            <a:solidFill>
              <a:srgbClr val="FFFFFF">
                <a:alpha val="8000"/>
              </a:srgbClr>
            </a:solidFill>
          </a:ln>
        </p:spPr>
      </p:sp>
      <p:sp>
        <p:nvSpPr>
          <p:cNvPr id="69" name="Line 69"/>
          <p:cNvSpPr/>
          <p:nvPr/>
        </p:nvSpPr>
        <p:spPr>
          <a:xfrm>
            <a:off x="5524500" y="5334000"/>
            <a:ext cx="1143000" cy="190500"/>
          </a:xfrm>
          <a:custGeom>
            <a:avLst/>
            <a:gdLst/>
            <a:ahLst/>
            <a:cxnLst/>
            <a:rect l="l" t="t" r="r" b="b"/>
            <a:pathLst>
              <a:path w="1143000" h="190500">
                <a:moveTo>
                  <a:pt x="0" y="190500"/>
                </a:moveTo>
                <a:lnTo>
                  <a:pt x="1143000" y="0"/>
                </a:lnTo>
              </a:path>
            </a:pathLst>
          </a:custGeom>
          <a:noFill/>
          <a:ln w="4762">
            <a:solidFill>
              <a:srgbClr val="FFFFFF">
                <a:alpha val="8000"/>
              </a:srgbClr>
            </a:solidFill>
          </a:ln>
        </p:spPr>
      </p:sp>
      <p:sp>
        <p:nvSpPr>
          <p:cNvPr id="70" name="Line 70"/>
          <p:cNvSpPr/>
          <p:nvPr/>
        </p:nvSpPr>
        <p:spPr>
          <a:xfrm>
            <a:off x="7905750" y="4286250"/>
            <a:ext cx="1143000" cy="666750"/>
          </a:xfrm>
          <a:custGeom>
            <a:avLst/>
            <a:gdLst/>
            <a:ahLst/>
            <a:cxnLst/>
            <a:rect l="l" t="t" r="r" b="b"/>
            <a:pathLst>
              <a:path w="1143000" h="666750">
                <a:moveTo>
                  <a:pt x="0" y="666750"/>
                </a:moveTo>
                <a:lnTo>
                  <a:pt x="1143000" y="0"/>
                </a:lnTo>
              </a:path>
            </a:pathLst>
          </a:custGeom>
          <a:noFill/>
          <a:ln w="4762">
            <a:solidFill>
              <a:srgbClr val="FFFFFF">
                <a:alpha val="8000"/>
              </a:srgbClr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66513" y="1832610"/>
            <a:ext cx="245897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effectLst>
                  <a:glow rad="28575">
                    <a:srgbClr val="000000">
                      <a:alpha val="30000"/>
                    </a:srgbClr>
                  </a:glow>
                </a:effectLst>
                <a:latin typeface="Segoe UI"/>
                <a:ea typeface="Microsoft YaHei"/>
                <a:cs typeface="Segoe UI"/>
              </a:rPr>
              <a:t>感谢观看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582549" y="2599372"/>
            <a:ext cx="302690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拥抱 AI 驱动的开发新时代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468529" y="3045142"/>
            <a:ext cx="52549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Thank You — Embrace the Future of AI-Assisted Development</a:t>
            </a:r>
          </a:p>
        </p:txBody>
      </p:sp>
      <p:sp>
        <p:nvSpPr>
          <p:cNvPr id="74" name="Rectangle 74"/>
          <p:cNvSpPr/>
          <p:nvPr/>
        </p:nvSpPr>
        <p:spPr>
          <a:xfrm>
            <a:off x="4667250" y="3476625"/>
            <a:ext cx="2857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B2FFF"/>
              </a:gs>
            </a:gsLst>
            <a:lin ang="0" scaled="1"/>
          </a:gra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4237815" y="3917632"/>
            <a:ext cx="371636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5E7EB"/>
                </a:solidFill>
                <a:latin typeface="Segoe UI"/>
                <a:ea typeface="Microsoft YaHei"/>
                <a:cs typeface="Segoe UI"/>
              </a:rPr>
              <a:t>"未来不属于 AI，而属于会用 AI 的人"</a:t>
            </a:r>
          </a:p>
        </p:txBody>
      </p:sp>
      <p:sp>
        <p:nvSpPr>
          <p:cNvPr id="76" name="Rectangle 76"/>
          <p:cNvSpPr/>
          <p:nvPr/>
        </p:nvSpPr>
        <p:spPr>
          <a:xfrm>
            <a:off x="4191000" y="4476750"/>
            <a:ext cx="3810000" cy="952500"/>
          </a:xfrm>
          <a:prstGeom prst="roundRect">
            <a:avLst>
              <a:gd name="adj" fmla="val 120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77" name="Rectangle 77"/>
          <p:cNvSpPr/>
          <p:nvPr/>
        </p:nvSpPr>
        <p:spPr>
          <a:xfrm>
            <a:off x="4191000" y="4476750"/>
            <a:ext cx="38100" cy="9525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4764596" y="4728210"/>
            <a:ext cx="26628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5E7EB"/>
                </a:solidFill>
                <a:latin typeface="Segoe UI"/>
                <a:ea typeface="Microsoft YaHei"/>
                <a:cs typeface="Segoe UI"/>
              </a:rPr>
              <a:t>Vibe Coding — 让每个人都能构建软件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559975" y="5030152"/>
            <a:ext cx="3072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From Idea to Product in Minutes, Not Months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181457" y="6379845"/>
            <a:ext cx="18290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© 2025 Vibe Coding Introduction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